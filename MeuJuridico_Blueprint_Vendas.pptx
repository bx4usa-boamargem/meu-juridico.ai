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64008" cy="685800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2743200" cy="34747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BLUEPRINT ESTRATÉGICO · 2025/2026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MeuJurídico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.ai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AFD4"/>
                </a:solidFill>
              </a:rPr>
              <a:t>Vendas, Precificação e Go-to-Market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AFD4"/>
                </a:solidFill>
              </a:rPr>
              <a:t>para Plataforma de IA Jurídica para Governos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3200400" cy="0"/>
          </a:xfrm>
          <a:prstGeom prst="line">
            <a:avLst/>
          </a:prstGeom>
          <a:noFill/>
          <a:ln w="12700">
            <a:solidFill>
              <a:srgbClr val="1D6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5.570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681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9FBF"/>
                </a:solidFill>
              </a:rPr>
              <a:t>municípios no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9FBF"/>
                </a:solidFill>
              </a:rPr>
              <a:t>mercado endereçável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R$ 28M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4681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9FBF"/>
                </a:solidFill>
              </a:rPr>
              <a:t>licitações/ano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9FBF"/>
                </a:solidFill>
              </a:rPr>
              <a:t>de 1 prefeitura média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4681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9FBF"/>
                </a:solidFill>
              </a:rPr>
              <a:t>margem bruta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A9FBF"/>
                </a:solidFill>
              </a:rPr>
              <a:t>no plano Essencial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20640" y="10972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Baseado em análise de prefeituras reais: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600200"/>
            <a:ext cx="45720" cy="41148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Horizontina, 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18105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Edital modelo — já contrata 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0" y="2267712"/>
            <a:ext cx="45720" cy="41148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22677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Vinhedo, SP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4780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PCA 2025 analisado — R$ 28,4M planejados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2935224"/>
            <a:ext cx="45720" cy="41148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9352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Guarapuava, PR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14553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Médio porte — 200–450 licitações/ano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3602736"/>
            <a:ext cx="45720" cy="41148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36027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Londrina, PR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8130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Grande porte — 1.200+ licitações/ano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270248"/>
            <a:ext cx="45720" cy="41148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30" name="Text 28"/>
          <p:cNvSpPr/>
          <p:nvPr/>
        </p:nvSpPr>
        <p:spPr>
          <a:xfrm>
            <a:off x="5349240" y="42702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Angra dos Reis, RJ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44805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Grande porte — já usa IA para documentos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4937760"/>
            <a:ext cx="45720" cy="41148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4937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Antônio João, 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51480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Pequeno porte — caso de dispensa direta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Dados reais extraídos do PNCP · Prefeituras analisadas · Editais públicos de 2024/2025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DE MERCADO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754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BF"/>
                </a:solidFill>
              </a:rPr>
              <a:t>A dor real das prefeituras brasileiras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 não é falta de software de gestão.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É a carência de braço técnico para elaborar os novos artefatos de planejamento exigidos pela Lei 14.133/2021.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6060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331720"/>
            <a:ext cx="777240" cy="77724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32186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02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3 meses → 1 manhã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858768"/>
            <a:ext cx="16916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950208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Elaborar um ETP completo leva meses de trabalho manual. Com IA: horas.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194560"/>
            <a:ext cx="26060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219456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06240" y="2331720"/>
            <a:ext cx="777240" cy="77724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29000" y="32186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Jurídico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502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Impugnações por erros formais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3858768"/>
            <a:ext cx="16916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950208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Erros no TR e ETP geram recursos que paralisam licitações inteiras.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194560"/>
            <a:ext cx="26060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194560"/>
            <a:ext cx="2606040" cy="54864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0880" y="2331720"/>
            <a:ext cx="777240" cy="77724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63640" y="32186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Novos Documentos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3502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6FE8"/>
                </a:solidFill>
              </a:rPr>
              <a:t>DFD, ETP, TR, Mapa de Riscos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3858768"/>
            <a:ext cx="16916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950208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 Lei 14.133 criou 4 novos artefatos obrigatórios. Ninguém sabe fazer.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61120" y="2194560"/>
            <a:ext cx="26060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61120" y="219456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33"/>
          <p:cNvSpPr/>
          <p:nvPr/>
        </p:nvSpPr>
        <p:spPr>
          <a:xfrm>
            <a:off x="9875520" y="2331720"/>
            <a:ext cx="777240" cy="77724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6" name="Text 34"/>
          <p:cNvSpPr/>
          <p:nvPr/>
        </p:nvSpPr>
        <p:spPr>
          <a:xfrm>
            <a:off x="98755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098280" y="32186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 de Conformidade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098280" y="3502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R$ 200k/ano em assessoria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18320" y="3858768"/>
            <a:ext cx="16916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25712" y="3950208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S. Domingos do Capim (PA) contratou assessoria jurídica só para escrever o PCA.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🔑  Pulo do gato: Prefeituras como Horizontina (RS) e Angra dos Reis (RJ) já usam IA — reduzindo meses para horas e eliminando recursos de impugnação por erros formais.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BLUEPRINT DE PRECIFICAÇÃO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BF"/>
                </a:solidFill>
              </a:rPr>
              <a:t>3 planos por porte — todos dentro da Dispensa de Licitação onde possível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703320" cy="5532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3703320" cy="73152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143000"/>
            <a:ext cx="3703320" cy="114300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Municípios até 30k hab.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Horizontina · Antônio João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291840" cy="77724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95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R$ 3.200 – R$ 3.800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por mês  ·  R$ 38k – R$ 46k / ano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3264408"/>
            <a:ext cx="265176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64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Margem bruta: 97,5%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✓ Dispensa direta (&lt; R$ 57k)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4050792"/>
            <a:ext cx="146304" cy="14630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005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DFD, ETP, TR, Mapa de Riscos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4425696"/>
            <a:ext cx="146304" cy="14630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7997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20 docs/mês · 40 consultas 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4800600"/>
            <a:ext cx="146304" cy="14630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Score conformidade jurídica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5175504"/>
            <a:ext cx="146304" cy="14630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1297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Alertas monitoramento (57 organismos)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5550408"/>
            <a:ext cx="146304" cy="14630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504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Suporte chat horário comercial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6263640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327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📊  50–150 licitações/ano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97680" y="1143000"/>
            <a:ext cx="3703320" cy="5532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7680" y="1143000"/>
            <a:ext cx="37033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1143000"/>
            <a:ext cx="3703320" cy="1143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PROFISSIONAL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8056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Municípios 30k–200k hab.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8056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Vinhedo · Guarapuava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80560" y="2377440"/>
            <a:ext cx="3291840" cy="7772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4480560" y="2395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R$ 4.500 – R$ 7.500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0560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por mês  ·  R$ 54k – R$ 90k / ano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3264408"/>
            <a:ext cx="265176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264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Margem bruta: 96,4%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✓ Dispensa direta (&lt; R$ 57k)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98848" y="4050792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4005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Tudo do Essencial +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98848" y="442569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437997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Edital e Contrato completos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736592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60 docs/mês · 120 consultas IA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498848" y="517550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4736592" y="51297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Parecer jurídico e resp. impugnação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98848" y="555040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5504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Painel Meu Impacto (ROI)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480560" y="6263640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6327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📊  200–450 licitações/ano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9600" y="1143000"/>
            <a:ext cx="3703320" cy="5532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0" y="1143000"/>
            <a:ext cx="37033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9600" y="1143000"/>
            <a:ext cx="3703320" cy="11430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8" name="Text 56"/>
          <p:cNvSpPr/>
          <p:nvPr/>
        </p:nvSpPr>
        <p:spPr>
          <a:xfrm>
            <a:off x="841248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841248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Capitais, estados, órgãos federais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41248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Londrina · Angra dos Reis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412480" y="2377440"/>
            <a:ext cx="3291840" cy="7772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2" name="Text 60"/>
          <p:cNvSpPr/>
          <p:nvPr/>
        </p:nvSpPr>
        <p:spPr>
          <a:xfrm>
            <a:off x="8412480" y="23957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R$ 12.000 – R$ 18.000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12480" y="2743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por mês  ·  R$ 144k – R$ 216k / ano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732520" y="3264408"/>
            <a:ext cx="2651760" cy="29260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5" name="Text 63"/>
          <p:cNvSpPr/>
          <p:nvPr/>
        </p:nvSpPr>
        <p:spPr>
          <a:xfrm>
            <a:off x="8732520" y="3264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Margem bruta: 87,5%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41248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→ Pregão eletrônico (plurianual)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430768" y="405079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8" name="Text 66"/>
          <p:cNvSpPr/>
          <p:nvPr/>
        </p:nvSpPr>
        <p:spPr>
          <a:xfrm>
            <a:off x="8668512" y="400507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Tudo do Profissional +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430768" y="4425696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0" name="Text 68"/>
          <p:cNvSpPr/>
          <p:nvPr/>
        </p:nvSpPr>
        <p:spPr>
          <a:xfrm>
            <a:off x="8668512" y="437997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Docs e consultas ilimitados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430768" y="480060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2" name="Text 70"/>
          <p:cNvSpPr/>
          <p:nvPr/>
        </p:nvSpPr>
        <p:spPr>
          <a:xfrm>
            <a:off x="8668512" y="4754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Peças processuais (TCU, MS)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430768" y="5175504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4" name="Text 72"/>
          <p:cNvSpPr/>
          <p:nvPr/>
        </p:nvSpPr>
        <p:spPr>
          <a:xfrm>
            <a:off x="8668512" y="512978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API + integração SEI/SIGCON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430768" y="5550408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6" name="Text 74"/>
          <p:cNvSpPr/>
          <p:nvPr/>
        </p:nvSpPr>
        <p:spPr>
          <a:xfrm>
            <a:off x="8668512" y="5504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Gerente de conta dedicado 24/7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412480" y="6263640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12480" y="6327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📊  1.200+ licitações/ano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0" name="Text 78"/>
          <p:cNvSpPr/>
          <p:nvPr/>
        </p:nvSpPr>
        <p:spPr>
          <a:xfrm>
            <a:off x="274320" y="6629400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FBF"/>
                </a:solidFill>
              </a:rPr>
              <a:t>⚡  Planos Essencial e Profissional abaixo de R$ 57.200 → contratação por Dispensa de Licitação (Art. 75, II — Lei 14.133/2021) — o gestor fecha sozinho, sem pregão, sem comissão.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DO PRODUTO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BF"/>
                </a:solidFill>
              </a:rPr>
              <a:t>O cliente não quer software — quer os artefatos prontos e aprovados pelo TCE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103120" cy="3474720"/>
          </a:xfrm>
          <a:prstGeom prst="rect">
            <a:avLst/>
          </a:prstGeom>
          <a:solidFill>
            <a:srgbClr val="1320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2103120" cy="6400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6F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51560" y="1417320"/>
            <a:ext cx="914400" cy="91440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6FE8"/>
                </a:solidFill>
              </a:rPr>
              <a:t>Plano de Contratações Anual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155448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9184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AFD4"/>
                </a:solidFill>
              </a:rPr>
              <a:t>Centro gravitacional. Cada item vira um processo.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228600" cy="0"/>
          </a:xfrm>
          <a:prstGeom prst="line">
            <a:avLst/>
          </a:prstGeom>
          <a:noFill/>
          <a:ln w="25400">
            <a:solidFill>
              <a:srgbClr val="1D6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6FE8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88920" y="1234440"/>
            <a:ext cx="2103120" cy="3474720"/>
          </a:xfrm>
          <a:prstGeom prst="rect">
            <a:avLst/>
          </a:prstGeom>
          <a:solidFill>
            <a:srgbClr val="1320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0" y="1234440"/>
            <a:ext cx="21031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1417320"/>
            <a:ext cx="914400" cy="91440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88036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88036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Formalização de Demanda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63240" y="3200400"/>
            <a:ext cx="155448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329184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AFD4"/>
                </a:solidFill>
              </a:rPr>
              <a:t>Origem de cada processo. Gerado em 2 min.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971800"/>
            <a:ext cx="228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20640" y="1234440"/>
            <a:ext cx="2103120" cy="3474720"/>
          </a:xfrm>
          <a:prstGeom prst="rect">
            <a:avLst/>
          </a:prstGeom>
          <a:solidFill>
            <a:srgbClr val="1320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20640" y="1234440"/>
            <a:ext cx="210312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715000" y="1417320"/>
            <a:ext cx="914400" cy="91440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21208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ETP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1208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Estudo Técnico Preliminar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94960" y="3200400"/>
            <a:ext cx="155448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29184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AFD4"/>
                </a:solidFill>
              </a:rPr>
              <a:t>Documento mais complexo. IA usa dados reais de mercado.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2971800"/>
            <a:ext cx="2286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452360" y="1234440"/>
            <a:ext cx="2103120" cy="3474720"/>
          </a:xfrm>
          <a:prstGeom prst="rect">
            <a:avLst/>
          </a:prstGeom>
          <a:solidFill>
            <a:srgbClr val="1320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52360" y="1234440"/>
            <a:ext cx="210312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8046720" y="1417320"/>
            <a:ext cx="914400" cy="91440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54380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54380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Termo de Referência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26680" y="3200400"/>
            <a:ext cx="155448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2088" y="329184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AFD4"/>
                </a:solidFill>
              </a:rPr>
              <a:t>Gerado automaticamente a partir do ETP.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555480" y="2971800"/>
            <a:ext cx="228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38360" y="2788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›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784080" y="1234440"/>
            <a:ext cx="2103120" cy="3474720"/>
          </a:xfrm>
          <a:prstGeom prst="rect">
            <a:avLst/>
          </a:prstGeom>
          <a:solidFill>
            <a:srgbClr val="1320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784080" y="1234440"/>
            <a:ext cx="21031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1"/>
          <p:cNvSpPr/>
          <p:nvPr/>
        </p:nvSpPr>
        <p:spPr>
          <a:xfrm>
            <a:off x="98755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10378440" y="1417320"/>
            <a:ext cx="914400" cy="914400"/>
          </a:xfrm>
          <a:prstGeom prst="ellipse">
            <a:avLst/>
          </a:prstGeom>
          <a:solidFill>
            <a:srgbClr val="1A3050"/>
          </a:solidFill>
          <a:ln/>
        </p:spPr>
      </p:sp>
      <p:sp>
        <p:nvSpPr>
          <p:cNvPr id="55" name="Text 53"/>
          <p:cNvSpPr/>
          <p:nvPr/>
        </p:nvSpPr>
        <p:spPr>
          <a:xfrm>
            <a:off x="103784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9875520" y="2468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987552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Mapa de Riscos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058400" y="3200400"/>
            <a:ext cx="1554480" cy="0"/>
          </a:xfrm>
          <a:prstGeom prst="line">
            <a:avLst/>
          </a:prstGeom>
          <a:noFill/>
          <a:ln w="635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93808" y="3291840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AFD4"/>
                </a:solidFill>
              </a:rPr>
              <a:t>Blindagem jurídica contra TCU/TCE.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983480"/>
            <a:ext cx="11247120" cy="160020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61" name="Shape 59"/>
          <p:cNvSpPr/>
          <p:nvPr/>
        </p:nvSpPr>
        <p:spPr>
          <a:xfrm>
            <a:off x="457200" y="4983480"/>
            <a:ext cx="54864" cy="160020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62" name="Text 60"/>
          <p:cNvSpPr/>
          <p:nvPr/>
        </p:nvSpPr>
        <p:spPr>
          <a:xfrm>
            <a:off x="685800" y="5074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DIFERENCIAIS EXCLUSIVOS vs. concorrência (eConect, JusIA, Jusbrasil):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" y="544068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D4"/>
                </a:solidFill>
              </a:rPr>
              <a:t>🔴  Monitoramento de 57 organismos (TCU, AGU, CGU, STJ, TCs estaduais) com alertas em tempo real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85800" y="569671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D4"/>
                </a:solidFill>
              </a:rPr>
              <a:t>🔴  Score de conformidade jurídica em cada documento com base em 50.000+ acórdãos do TCU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" y="595274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D4"/>
                </a:solidFill>
              </a:rPr>
              <a:t>🔴  Rastreabilidade total: cada parágrafo cita o artigo e o acórdão que o fundamenta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85800" y="620877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D4"/>
                </a:solidFill>
              </a:rPr>
              <a:t>🔴  Respostas a impugnações, recursos, diligências TCU, pedido de reexame e Mandado de Segurança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PCA COMO CENTRO GRAVITACIONAL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754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BF"/>
                </a:solidFill>
              </a:rPr>
              <a:t>O módulo mais estratégico da plataforma — gera demanda contínua para todos os outros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2377440"/>
            <a:ext cx="2743200" cy="1828800"/>
          </a:xfrm>
          <a:prstGeom prst="ellipse">
            <a:avLst/>
          </a:prstGeom>
          <a:solidFill>
            <a:srgbClr val="1D6FE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09160" y="3090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2025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</a:rPr>
              <a:t>Centro Gravitacional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📝 DFD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Nasce do PCA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1480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🔬 ETP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Herda dados do DFD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00584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📄 TR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Gerado via ETP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484632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4846320"/>
            <a:ext cx="192024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4937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🛡 Mapa de Riscos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5349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Blindagem TCE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21040" y="13716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13716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📑 Edital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Gerado do TR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21040" y="41148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4114800"/>
            <a:ext cx="19202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📃 Contrato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Fecha o ciclo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75520" y="27432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875520" y="2743200"/>
            <a:ext cx="19202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996696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Execução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6696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Status no PCA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172200"/>
            <a:ext cx="1124712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619963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563EB"/>
                </a:solidFill>
              </a:rPr>
              <a:t>💡  Um PCA com 28 itens (como Vinhedo, SP) gera potencialmente 112 documentos ao longo do ano — DFD + ETP + TR + Mapa para cada item. O PCA é o motor de demanda contínua.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DE VENDAS — ARGUMENTOS DE FECHAMENTO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657600" cy="6400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371600"/>
            <a:ext cx="731520" cy="7315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212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Argumento de Agilidade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32004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D6FE8"/>
                </a:solidFill>
              </a:rPr>
              <a:t>"O que antes levava 3 meses, hoje concluímos em uma única manhã."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Elaborar ETP + TR manualmente leva semanas. Com a plataforma: horas. O pregoeiro entra na reunião, você gera o TR ao vivo. É a maior mágica para fechar.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6FE8"/>
                </a:solidFill>
              </a:rPr>
              <a:t>📎  Fonte: Edital Horizontina RS · Pregão 03/2025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43400" y="1188720"/>
            <a:ext cx="36576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188720"/>
            <a:ext cx="36576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5806440" y="1371600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26280" y="2212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Argumento de Segurança Jurídica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743200"/>
            <a:ext cx="3200400" cy="6400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7C3AED"/>
                </a:solidFill>
              </a:rPr>
              <a:t>"Redução drástica nos recursos de impugnação e aumento da transparência."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Cada documento cita o artigo e o acórdão do TCU que o fundamenta. O agente de contratação não assina com medo — assina com respaldo jurídico rastreável.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26280" y="5212080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📎  Base: 50.000+ acórdãos TCU · 57 organismos monitorados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29600" y="1188720"/>
            <a:ext cx="36576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188720"/>
            <a:ext cx="36576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692640" y="1371600"/>
            <a:ext cx="731520" cy="73152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12480" y="2212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Argumento de Conformidade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58200" y="2743200"/>
            <a:ext cx="320040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59669"/>
                </a:solidFill>
              </a:rPr>
              <a:t>"Documentos sempre atualizados conforme a legislação vigente."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35204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 plataforma monitora TCU, AGU, CGU, STJ e TCs estaduais em tempo real. Quando há mudança de entendimento, os alertas chegam antes do próximo processo.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12480" y="5212080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</a:rPr>
              <a:t>📎  Fonte: TCU acórdãos · AGU pareceres · INs SEGES/MGI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5989320"/>
            <a:ext cx="1124712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6035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E8"/>
                </a:solidFill>
              </a:rPr>
              <a:t>🎯  DEMONSTRAÇÃO QUE FECHA: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FBF"/>
                </a:solidFill>
              </a:rPr>
              <a:t>Entre na reunião, peça o objeto de uma licitação que eles têm pendente, gere o TR ao vivo em 3 minutos. O pregoeiro vê o próprio trabalho sendo feito na frente dele. Não tem objeção que resista.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DE ESTUDO — HORIZONTINA, 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754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BF"/>
                </a:solidFill>
              </a:rPr>
              <a:t>Pregão 03/2025 · O edital que valida toda a estratégia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303520" cy="530352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530352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 Pregão Eletrônico 03/2025 — Horizontina/RS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FBF"/>
                </a:solidFill>
              </a:rPr>
              <a:t>Objeto: Plataforma de IA para geração de artefatos de licitação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4846320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48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FBF"/>
                </a:solidFill>
              </a:rPr>
              <a:t>Foco do contrato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22311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Implantação + treinamento, não só licença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4846320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42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FBF"/>
                </a:solidFill>
              </a:rPr>
              <a:t>Justificativa oficial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2825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"A preparação manual é lenta e burocrática"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4846320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36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FBF"/>
                </a:solidFill>
              </a:rPr>
              <a:t>Documentos exigidos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" y="3419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DFD, ETP, TR, Mapa de Riscos, Edital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794760"/>
            <a:ext cx="4846320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31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FBF"/>
                </a:solidFill>
              </a:rPr>
              <a:t>Modelo de entrega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2960" y="401421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Artefatos prontos — IA gera, servidor valida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4389120"/>
            <a:ext cx="4846320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425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FBF"/>
                </a:solidFill>
              </a:rPr>
              <a:t>Valor estimado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" y="46085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Dentro do limite de dispensa de licitação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4983480"/>
            <a:ext cx="4846320" cy="502920"/>
          </a:xfrm>
          <a:prstGeom prst="rect">
            <a:avLst/>
          </a:prstGeom>
          <a:solidFill>
            <a:srgbClr val="13203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200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9FBF"/>
                </a:solidFill>
              </a:rPr>
              <a:t>Aprendizado-chave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5202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Município pequeno já entende o valor da IA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1188720"/>
            <a:ext cx="5303520" cy="5303520"/>
          </a:xfrm>
          <a:prstGeom prst="rect">
            <a:avLst/>
          </a:prstGeom>
          <a:solidFill>
            <a:srgbClr val="0D1E33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1188720"/>
            <a:ext cx="54864" cy="5303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O que isso significa para você: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185623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152" y="18196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Mercado validado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31152" y="2057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FBF"/>
                </a:solidFill>
              </a:rPr>
              <a:t>Municípios pequenos já compraram IA para licitações. Não é tese — é mercado ativo.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266090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931152" y="2624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Argumento de urgência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31152" y="2862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FBF"/>
                </a:solidFill>
              </a:rPr>
              <a:t>Se Horizontina já tem e seu município não tem, está em desvantagem competitiva.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346557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6931152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Template de edital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31152" y="36667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FBF"/>
                </a:solidFill>
              </a:rPr>
              <a:t>Use o Pregão 03/2025 de Horizontina como modelo para municípios que precisam licitar.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29400" y="427024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6931152" y="4233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Benchmark de preço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31152" y="447141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FBF"/>
                </a:solidFill>
              </a:rPr>
              <a:t>O valor do edital valida a faixa de R$ 38k–46k/ano para municípios pequenos.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29400" y="507492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6931152" y="5038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Proof of concept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52760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9FBF"/>
                </a:solidFill>
              </a:rPr>
              <a:t>Leve o caso Horizontina para a reunião de vendas como referência concreta.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80F1C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FBF"/>
                </a:solidFill>
              </a:rPr>
              <a:t>📌  Ação imediata: baixe o ETP real do Pregão 03/2025 de Horizontina no PNCP e use como template de referência para treinamento da sua IA.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320040"/>
            <a:ext cx="36576" cy="365760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GO-TO-MARKET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754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FBF"/>
                </a:solidFill>
              </a:rPr>
              <a:t>Próximos passos prioritários para escalar a plataforma em 2025/2026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9748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2697480" cy="6400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234440"/>
            <a:ext cx="1463040" cy="274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E8"/>
                </a:solidFill>
              </a:rPr>
              <a:t>SPRINT 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7400" y="12618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Semanas 1–4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1645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Técnica — PCA + Consulta Jurídica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14600"/>
            <a:ext cx="201168" cy="20116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Implementar módulo PCA com importação via CNPJ no PNCP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201168" cy="20116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Edge Function juridical-consultant (base TCU 50k acórdãos)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201168" cy="20116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Score conformidade jurídica integrado em todos os docs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846320"/>
            <a:ext cx="201168" cy="201168"/>
          </a:xfrm>
          <a:prstGeom prst="rect">
            <a:avLst/>
          </a:prstGeom>
          <a:solidFill>
            <a:srgbClr val="1D6FE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846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Tela de Alertas monitoramento dos 57 organismos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1143000"/>
            <a:ext cx="269748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14300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3383280" y="1234440"/>
            <a:ext cx="1463040" cy="2743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SPRINT 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12618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Semanas 5–8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83280" y="1645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Produto Completo — Peças Jurídicas + Fluxo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2395728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251460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Gerador de peças: Parecer, Resposta Impugnação, Nota Técnica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329184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Fluxo de Compras integrado (PCA → DFD → ETP → TR sequencial)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406908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Projeto Básico para obras e engenharia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4846320"/>
            <a:ext cx="201168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4846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0" y="4846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Relatório formal de Pesquisa de Preços exportável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1143000"/>
            <a:ext cx="269748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1143000"/>
            <a:ext cx="269748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1234440"/>
            <a:ext cx="146304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GO-TO-MARKET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18120" y="12618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Semanas 9–12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63640" y="1645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Vendas — Entrada via Dispensa de Licitação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2395728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2514600"/>
            <a:ext cx="20116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626364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3796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Mapear 50 municípios via PNCP (buscar PCA pelo CNPJ)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63640" y="3291840"/>
            <a:ext cx="20116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626364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3796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Demo personalizada: 'Seus 47 itens do PCA já carregados'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4069080"/>
            <a:ext cx="20116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626364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3796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Proposta comercial &lt; R$ 57k → fechamento sem pregão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846320"/>
            <a:ext cx="201168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2" name="Text 60"/>
          <p:cNvSpPr/>
          <p:nvPr/>
        </p:nvSpPr>
        <p:spPr>
          <a:xfrm>
            <a:off x="6263640" y="4846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37960" y="4846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Foco: Sec. Administração + Pregoeiro como porta de entrada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006840" y="1143000"/>
            <a:ext cx="269748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006840" y="1143000"/>
            <a:ext cx="269748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1234440"/>
            <a:ext cx="1463040" cy="274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7" name="Text 65"/>
          <p:cNvSpPr/>
          <p:nvPr/>
        </p:nvSpPr>
        <p:spPr>
          <a:xfrm>
            <a:off x="914400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ESCALA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698480" y="126187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Mês 4–6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144000" y="1645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Ata de Registro de Preços — Multiplicador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144000" y="2395728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144000" y="2514600"/>
            <a:ext cx="201168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2" name="Text 70"/>
          <p:cNvSpPr/>
          <p:nvPr/>
        </p:nvSpPr>
        <p:spPr>
          <a:xfrm>
            <a:off x="914400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418320" y="2514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1 pregão federal ou estadual = 5.570 municípios sem licitar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144000" y="3291840"/>
            <a:ext cx="201168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5" name="Text 73"/>
          <p:cNvSpPr/>
          <p:nvPr/>
        </p:nvSpPr>
        <p:spPr>
          <a:xfrm>
            <a:off x="9144000" y="3291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418320" y="32918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Target: MPOG, FNDE, estados de SP, MG e RS primeiro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144000" y="4069080"/>
            <a:ext cx="201168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8" name="Text 76"/>
          <p:cNvSpPr/>
          <p:nvPr/>
        </p:nvSpPr>
        <p:spPr>
          <a:xfrm>
            <a:off x="914400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41832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Case de referência: usar Horizontina como benchmark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144000" y="4846320"/>
            <a:ext cx="201168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1" name="Text 79"/>
          <p:cNvSpPr/>
          <p:nvPr/>
        </p:nvSpPr>
        <p:spPr>
          <a:xfrm>
            <a:off x="9144000" y="4846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418320" y="48463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Meta ARR Ano 1: R$ 4,7M · Ano 3: R$ 47,5M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4" name="Text 82"/>
          <p:cNvSpPr/>
          <p:nvPr/>
        </p:nvSpPr>
        <p:spPr>
          <a:xfrm>
            <a:off x="365760" y="655624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FBF"/>
                </a:solidFill>
              </a:rPr>
              <a:t>🎯  Meta: 100 clientes no Ano 1 · ARR R$ 4,7M · 780 clientes no Ano 3 · ARR R$ 47,5M · Margem operacional 90%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MeuJurídico.ai — Blueprint Estratégico de Vendas</dc:title>
  <dc:subject>PptxGenJS Presentation</dc:subject>
  <dc:creator>PptxGenJS</dc:creator>
  <cp:lastModifiedBy>PptxGenJS</cp:lastModifiedBy>
  <cp:revision>1</cp:revision>
  <dcterms:created xsi:type="dcterms:W3CDTF">2026-03-05T20:01:32Z</dcterms:created>
  <dcterms:modified xsi:type="dcterms:W3CDTF">2026-03-05T20:01:32Z</dcterms:modified>
</cp:coreProperties>
</file>